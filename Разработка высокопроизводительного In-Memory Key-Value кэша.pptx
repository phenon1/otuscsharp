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300" r:id="rId10"/>
    <p:sldId id="301" r:id="rId11"/>
    <p:sldId id="262" r:id="rId12"/>
    <p:sldId id="302" r:id="rId13"/>
    <p:sldId id="263" r:id="rId14"/>
    <p:sldId id="264" r:id="rId15"/>
    <p:sldId id="265" r:id="rId16"/>
  </p:sldIdLst>
  <p:sldSz cx="9144000" cy="5143500" type="screen16x9"/>
  <p:notesSz cx="6858000" cy="9144000"/>
  <p:embeddedFontLst>
    <p:embeddedFont>
      <p:font typeface="Bahnschrift SemiLight Condensed" panose="020B0502040204020203" pitchFamily="34" charset="0"/>
      <p:regular r:id="rId18"/>
    </p:embeddedFont>
    <p:embeddedFont>
      <p:font typeface="Cascadia Mono" panose="020B0609020000020004" pitchFamily="49" charset="0"/>
      <p:regular r:id="rId19"/>
      <p:bold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Medium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203E46-6826-43DD-97CC-55A9E8C92549}">
  <a:tblStyle styleId="{7A203E46-6826-43DD-97CC-55A9E8C925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712" autoAdjust="0"/>
  </p:normalViewPr>
  <p:slideViewPr>
    <p:cSldViewPr snapToGrid="0">
      <p:cViewPr>
        <p:scale>
          <a:sx n="125" d="100"/>
          <a:sy n="125" d="100"/>
        </p:scale>
        <p:origin x="1152" y="396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7631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1665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5142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8210400" cy="1495325"/>
        </p:xfrm>
        <a:graphic>
          <a:graphicData uri="http://schemas.openxmlformats.org/drawingml/2006/table">
            <a:tbl>
              <a:tblPr>
                <a:noFill/>
                <a:tableStyleId>{7A203E46-6826-43DD-97CC-55A9E8C92549}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{7A203E46-6826-43DD-97CC-55A9E8C92549}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55779" y="-3216974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12955" y="1071027"/>
            <a:ext cx="75843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Разработка высокопроизводительного In-Memory Key-Value кэша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764170" y="4042234"/>
            <a:ext cx="3148924" cy="710934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49" y="4127375"/>
            <a:ext cx="3242197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C# Developer Advanced</a:t>
            </a:r>
            <a:endParaRPr lang="ru-RU"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 dirty="0">
                <a:solidFill>
                  <a:schemeClr val="dk1"/>
                </a:solidFill>
              </a:rPr>
              <a:t>Меня хорошо видно</a:t>
            </a:r>
            <a:endParaRPr sz="4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>
                <a:solidFill>
                  <a:schemeClr val="dk1"/>
                </a:solidFill>
              </a:rPr>
              <a:t>&amp; слышно?</a:t>
            </a:r>
            <a:endParaRPr sz="4000" dirty="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239665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000" dirty="0"/>
              <a:t>Тема: </a:t>
            </a:r>
            <a:r>
              <a:rPr lang="ru-RU" sz="2400" dirty="0"/>
              <a:t>Разработка высокопроизводительного </a:t>
            </a:r>
            <a:br>
              <a:rPr lang="ru-RU" sz="2400" dirty="0"/>
            </a:br>
            <a:r>
              <a:rPr lang="ru-RU" sz="2400" dirty="0"/>
              <a:t>In-Memory Key-Value кэша</a:t>
            </a:r>
            <a:br>
              <a:rPr lang="ru-RU" sz="3000" dirty="0"/>
            </a:br>
            <a:endParaRPr lang="ru-RU" sz="3000" dirty="0"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/>
          <a:srcRect t="12943" b="12943"/>
          <a:stretch/>
        </p:blipFill>
        <p:spPr>
          <a:xfrm>
            <a:off x="5821354" y="1828827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500550" y="2541949"/>
            <a:ext cx="3550197" cy="65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Коновалов Вадим</a:t>
            </a:r>
            <a:endParaRPr sz="24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500550" y="2867837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Старший 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разработчик Вымпелком ИТ</a:t>
            </a:r>
            <a:endParaRPr lang="ru-RU"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92A30-D304-4CBB-BD3D-DF53FD7E3869}"/>
              </a:ext>
            </a:extLst>
          </p:cNvPr>
          <p:cNvSpPr txBox="1"/>
          <p:nvPr/>
        </p:nvSpPr>
        <p:spPr>
          <a:xfrm>
            <a:off x="514454" y="3406838"/>
            <a:ext cx="4656397" cy="1092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7 </a:t>
            </a:r>
            <a:r>
              <a:rPr lang="ru-RU" sz="11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лет опыта промышленной разработки на .</a:t>
            </a:r>
            <a:r>
              <a:rPr lang="en-US" sz="11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Net</a:t>
            </a:r>
          </a:p>
          <a:p>
            <a:pPr marL="28575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Roboto Medium"/>
                <a:ea typeface="Roboto Medium"/>
                <a:cs typeface="Roboto Medium"/>
                <a:sym typeface="Roboto Medium"/>
              </a:rPr>
              <a:t>4 </a:t>
            </a:r>
            <a:r>
              <a:rPr lang="ru-RU" sz="1100" dirty="0">
                <a:latin typeface="Roboto Medium"/>
                <a:ea typeface="Roboto Medium"/>
                <a:cs typeface="Roboto Medium"/>
                <a:sym typeface="Roboto Medium"/>
              </a:rPr>
              <a:t>года разрабатываю</a:t>
            </a:r>
            <a:r>
              <a:rPr lang="en-US" sz="1100" dirty="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ru-RU" sz="1100" dirty="0">
                <a:latin typeface="Roboto Medium"/>
                <a:ea typeface="Roboto Medium"/>
                <a:cs typeface="Roboto Medium"/>
                <a:sym typeface="Roboto Medium"/>
              </a:rPr>
              <a:t>для </a:t>
            </a:r>
            <a:r>
              <a:rPr lang="en-US" sz="1100" dirty="0" err="1">
                <a:latin typeface="Roboto Medium"/>
                <a:ea typeface="Roboto Medium"/>
                <a:cs typeface="Roboto Medium"/>
                <a:sym typeface="Roboto Medium"/>
              </a:rPr>
              <a:t>CreatioCRM</a:t>
            </a:r>
            <a:r>
              <a:rPr lang="ru-RU" sz="1100" dirty="0">
                <a:latin typeface="Roboto Medium"/>
                <a:ea typeface="Roboto Medium"/>
                <a:cs typeface="Roboto Medium"/>
                <a:sym typeface="Roboto Medium"/>
              </a:rPr>
              <a:t> (</a:t>
            </a:r>
            <a:r>
              <a:rPr lang="en-US" sz="1100" dirty="0" err="1">
                <a:latin typeface="Roboto Medium"/>
                <a:ea typeface="Roboto Medium"/>
                <a:cs typeface="Roboto Medium"/>
                <a:sym typeface="Roboto Medium"/>
              </a:rPr>
              <a:t>BPMSoft</a:t>
            </a:r>
            <a:r>
              <a:rPr lang="en-US" sz="1100" dirty="0">
                <a:latin typeface="Roboto Medium"/>
                <a:ea typeface="Roboto Medium"/>
                <a:cs typeface="Roboto Medium"/>
                <a:sym typeface="Roboto Medium"/>
              </a:rPr>
              <a:t>)</a:t>
            </a:r>
          </a:p>
          <a:p>
            <a:pPr marL="285750" lvl="0" indent="-2857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Разрабатываю и поддерживаю </a:t>
            </a:r>
            <a:r>
              <a:rPr lang="en-US" sz="11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CRM </a:t>
            </a:r>
            <a:r>
              <a:rPr lang="ru-RU" sz="11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систему и связанные с ней </a:t>
            </a:r>
            <a:r>
              <a:rPr lang="ru-RU" sz="1100" dirty="0" err="1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микросервисы</a:t>
            </a:r>
            <a:r>
              <a:rPr lang="ru-RU" sz="11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для </a:t>
            </a:r>
            <a:r>
              <a:rPr lang="en-US" sz="11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B2B </a:t>
            </a:r>
            <a:r>
              <a:rPr lang="ru-RU" sz="1100" dirty="0">
                <a:latin typeface="Roboto Medium"/>
                <a:ea typeface="Roboto Medium"/>
                <a:cs typeface="Roboto Medium"/>
                <a:sym typeface="Roboto Medium"/>
              </a:rPr>
              <a:t>подразделения </a:t>
            </a:r>
            <a:br>
              <a:rPr lang="ru-RU" sz="1100" dirty="0"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lang="ru-RU" sz="1100" dirty="0">
                <a:latin typeface="Roboto Medium"/>
                <a:ea typeface="Roboto Medium"/>
                <a:cs typeface="Roboto Medium"/>
                <a:sym typeface="Roboto Medium"/>
              </a:rPr>
              <a:t>Билайн</a:t>
            </a:r>
            <a:endParaRPr lang="ru-RU" sz="11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План защиты</a:t>
            </a:r>
            <a:endParaRPr dirty="0"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4630662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4" y="2071492"/>
            <a:ext cx="4630663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Обзор всех элементов сервера кэширования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4630662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Бэнчмарк и нагрузочное тестирование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2" y="3208575"/>
            <a:ext cx="4630662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Решённые проблемы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cxnSpLocks/>
            <a:stCxn id="172" idx="1"/>
            <a:endCxn id="173" idx="1"/>
          </p:cNvCxnSpPr>
          <p:nvPr/>
        </p:nvCxnSpPr>
        <p:spPr>
          <a:xfrm rot="10800000" flipV="1">
            <a:off x="1138125" y="1679402"/>
            <a:ext cx="1" cy="580190"/>
          </a:xfrm>
          <a:prstGeom prst="bentConnector3">
            <a:avLst>
              <a:gd name="adj1" fmla="val 228601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cxnSpLocks/>
            <a:stCxn id="173" idx="1"/>
            <a:endCxn id="174" idx="1"/>
          </p:cNvCxnSpPr>
          <p:nvPr/>
        </p:nvCxnSpPr>
        <p:spPr>
          <a:xfrm rot="10800000" flipH="1" flipV="1">
            <a:off x="1138123" y="2259592"/>
            <a:ext cx="1" cy="580184"/>
          </a:xfrm>
          <a:prstGeom prst="bentConnector3">
            <a:avLst>
              <a:gd name="adj1" fmla="val -228600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cxnSpLocks/>
            <a:stCxn id="174" idx="1"/>
            <a:endCxn id="175" idx="1"/>
          </p:cNvCxnSpPr>
          <p:nvPr/>
        </p:nvCxnSpPr>
        <p:spPr>
          <a:xfrm rot="10800000" flipV="1">
            <a:off x="1138123" y="2839775"/>
            <a:ext cx="3" cy="556899"/>
          </a:xfrm>
          <a:prstGeom prst="bentConnector3">
            <a:avLst>
              <a:gd name="adj1" fmla="val 76201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cxnSpLocks/>
            <a:stCxn id="175" idx="1"/>
            <a:endCxn id="180" idx="1"/>
          </p:cNvCxnSpPr>
          <p:nvPr/>
        </p:nvCxnSpPr>
        <p:spPr>
          <a:xfrm rot="10800000" flipH="1" flipV="1">
            <a:off x="1138121" y="3396675"/>
            <a:ext cx="15" cy="564300"/>
          </a:xfrm>
          <a:prstGeom prst="bentConnector3">
            <a:avLst>
              <a:gd name="adj1" fmla="val -15240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463065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463924" y="308700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39"/>
          <p:cNvSpPr/>
          <p:nvPr/>
        </p:nvSpPr>
        <p:spPr>
          <a:xfrm>
            <a:off x="475199" y="1171777"/>
            <a:ext cx="8077130" cy="906424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Проектирование, программная реализация и тестирование масштабируемого In-Memory хранилища данных типа «ключ-значение» с минимальными </a:t>
            </a:r>
            <a:r>
              <a:rPr lang="ru-RU" sz="1500" dirty="0" err="1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аллокациями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F77E18E-7E6D-404A-BAFE-4F3E2C8FBA44}"/>
              </a:ext>
            </a:extLst>
          </p:cNvPr>
          <p:cNvSpPr/>
          <p:nvPr/>
        </p:nvSpPr>
        <p:spPr>
          <a:xfrm>
            <a:off x="463924" y="2521324"/>
            <a:ext cx="1721223" cy="906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Клиент (</a:t>
            </a:r>
            <a:r>
              <a:rPr lang="en-US" dirty="0"/>
              <a:t>TCP)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08A5EC5-1C50-41AE-8241-9DABE5A05E09}"/>
              </a:ext>
            </a:extLst>
          </p:cNvPr>
          <p:cNvSpPr/>
          <p:nvPr/>
        </p:nvSpPr>
        <p:spPr>
          <a:xfrm>
            <a:off x="2552700" y="2528050"/>
            <a:ext cx="1721223" cy="906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Сетевой уровень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5DC5B46-80CE-487A-9B9F-139DA6C3EB4B}"/>
              </a:ext>
            </a:extLst>
          </p:cNvPr>
          <p:cNvSpPr/>
          <p:nvPr/>
        </p:nvSpPr>
        <p:spPr>
          <a:xfrm>
            <a:off x="4641476" y="2521324"/>
            <a:ext cx="1721223" cy="906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Конвейер обработки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975E6CC-CBB8-4B3E-9DDC-8F5FA8B726F6}"/>
              </a:ext>
            </a:extLst>
          </p:cNvPr>
          <p:cNvSpPr/>
          <p:nvPr/>
        </p:nvSpPr>
        <p:spPr>
          <a:xfrm>
            <a:off x="6730252" y="2528050"/>
            <a:ext cx="1721223" cy="906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Ядро хранилища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CC7C869-5A85-4D8A-9439-14C87C565D34}"/>
              </a:ext>
            </a:extLst>
          </p:cNvPr>
          <p:cNvSpPr/>
          <p:nvPr/>
        </p:nvSpPr>
        <p:spPr>
          <a:xfrm>
            <a:off x="2552699" y="3932368"/>
            <a:ext cx="1721223" cy="906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Парсер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7B5B5482-D383-48FC-8D16-33A1830D64ED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3413311" y="3434474"/>
            <a:ext cx="1" cy="49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4817521B-F0D3-49C4-9855-9F0B3C68947E}"/>
              </a:ext>
            </a:extLst>
          </p:cNvPr>
          <p:cNvCxnSpPr>
            <a:stCxn id="14" idx="3"/>
            <a:endCxn id="12" idx="2"/>
          </p:cNvCxnSpPr>
          <p:nvPr/>
        </p:nvCxnSpPr>
        <p:spPr>
          <a:xfrm flipV="1">
            <a:off x="4273922" y="3427748"/>
            <a:ext cx="1228166" cy="9578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4233758C-6820-4525-8E56-F4CBD8E362C3}"/>
              </a:ext>
            </a:extLst>
          </p:cNvPr>
          <p:cNvCxnSpPr>
            <a:stCxn id="3" idx="3"/>
            <a:endCxn id="11" idx="1"/>
          </p:cNvCxnSpPr>
          <p:nvPr/>
        </p:nvCxnSpPr>
        <p:spPr>
          <a:xfrm>
            <a:off x="2185147" y="2974536"/>
            <a:ext cx="367553" cy="67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79CE99A6-1C25-4C9E-8F2B-00C1863FFB55}"/>
              </a:ext>
            </a:extLst>
          </p:cNvPr>
          <p:cNvCxnSpPr/>
          <p:nvPr/>
        </p:nvCxnSpPr>
        <p:spPr>
          <a:xfrm>
            <a:off x="4273922" y="2964447"/>
            <a:ext cx="367553" cy="67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7A79772C-73D0-47FC-8287-EBE8E5BFC062}"/>
              </a:ext>
            </a:extLst>
          </p:cNvPr>
          <p:cNvCxnSpPr/>
          <p:nvPr/>
        </p:nvCxnSpPr>
        <p:spPr>
          <a:xfrm>
            <a:off x="6340286" y="2977899"/>
            <a:ext cx="367553" cy="67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D590E27-9BBF-4EEE-AAB6-A70CF5CC65D9}"/>
              </a:ext>
            </a:extLst>
          </p:cNvPr>
          <p:cNvSpPr/>
          <p:nvPr/>
        </p:nvSpPr>
        <p:spPr>
          <a:xfrm>
            <a:off x="611841" y="2449076"/>
            <a:ext cx="7278574" cy="25397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Сетевой уровень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CC6E34-8996-4074-AB88-95AC447C0D6B}"/>
              </a:ext>
            </a:extLst>
          </p:cNvPr>
          <p:cNvSpPr txBox="1"/>
          <p:nvPr/>
        </p:nvSpPr>
        <p:spPr>
          <a:xfrm>
            <a:off x="500550" y="1130834"/>
            <a:ext cx="576311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Транспортный протокол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TCP</a:t>
            </a:r>
            <a:endParaRPr lang="ru-RU" b="1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Протокол общения клиента и сервера </a:t>
            </a:r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[length] </a:t>
            </a:r>
            <a:r>
              <a:rPr lang="en-US" sz="110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ru-RU" sz="110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 байта</a:t>
            </a:r>
            <a:r>
              <a:rPr lang="en-US" sz="110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r>
              <a:rPr lang="ru-RU" sz="110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[payload]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Payload </a:t>
            </a:r>
            <a:r>
              <a:rPr lang="ru-RU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содержит: </a:t>
            </a:r>
            <a: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COMMAND KEY [VALUE]</a:t>
            </a:r>
            <a:b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b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ru-RU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Google Shape;596;p74">
            <a:extLst>
              <a:ext uri="{FF2B5EF4-FFF2-40B4-BE49-F238E27FC236}">
                <a16:creationId xmlns:a16="http://schemas.microsoft.com/office/drawing/2014/main" id="{43F7B8C1-73F5-4197-B4FA-F56095C8BCBD}"/>
              </a:ext>
            </a:extLst>
          </p:cNvPr>
          <p:cNvSpPr txBox="1">
            <a:spLocks/>
          </p:cNvSpPr>
          <p:nvPr/>
        </p:nvSpPr>
        <p:spPr>
          <a:xfrm>
            <a:off x="976800" y="2449076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Bahnschrift SemiLight Condensed" panose="020B0502040204020203" pitchFamily="34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74531F"/>
                </a:solidFill>
                <a:latin typeface="Cascadia Mono" panose="020B0609020000020004" pitchFamily="49" charset="0"/>
              </a:rPr>
              <a:t>SendExactAsync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Socket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1F377F"/>
                </a:solidFill>
                <a:latin typeface="Cascadia Mono" panose="020B0609020000020004" pitchFamily="49" charset="0"/>
              </a:rPr>
              <a:t>socket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byte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800" dirty="0">
                <a:solidFill>
                  <a:srgbClr val="1F377F"/>
                </a:solidFill>
                <a:latin typeface="Cascadia Mono" panose="020B0609020000020004" pitchFamily="49" charset="0"/>
              </a:rPr>
              <a:t>data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ValueTask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800" dirty="0">
                <a:solidFill>
                  <a:srgbClr val="74531F"/>
                </a:solidFill>
                <a:latin typeface="Cascadia Mono" panose="020B0609020000020004" pitchFamily="49" charset="0"/>
              </a:rPr>
              <a:t>ReadExactAsync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Socket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1F377F"/>
                </a:solidFill>
                <a:latin typeface="Cascadia Mono" panose="020B0609020000020004" pitchFamily="49" charset="0"/>
              </a:rPr>
              <a:t>socket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byte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800" dirty="0">
                <a:solidFill>
                  <a:srgbClr val="1F377F"/>
                </a:solidFill>
                <a:latin typeface="Cascadia Mono" panose="020B0609020000020004" pitchFamily="49" charset="0"/>
              </a:rPr>
              <a:t>buffer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1F377F"/>
                </a:solidFill>
                <a:latin typeface="Cascadia Mono" panose="020B0609020000020004" pitchFamily="49" charset="0"/>
              </a:rPr>
              <a:t>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74531F"/>
                </a:solidFill>
                <a:latin typeface="Cascadia Mono" panose="020B0609020000020004" pitchFamily="49" charset="0"/>
              </a:rPr>
              <a:t>SendPacketWithLenAsync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Socket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1F377F"/>
                </a:solidFill>
                <a:latin typeface="Cascadia Mono" panose="020B0609020000020004" pitchFamily="49" charset="0"/>
              </a:rPr>
              <a:t>socket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byte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1800" dirty="0">
                <a:solidFill>
                  <a:srgbClr val="1F377F"/>
                </a:solidFill>
                <a:latin typeface="Cascadia Mono" panose="020B0609020000020004" pitchFamily="49" charset="0"/>
              </a:rPr>
              <a:t>payload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byte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[]&gt; </a:t>
            </a:r>
            <a:r>
              <a:rPr lang="en-US" sz="1800" dirty="0">
                <a:solidFill>
                  <a:srgbClr val="74531F"/>
                </a:solidFill>
                <a:latin typeface="Cascadia Mono" panose="020B0609020000020004" pitchFamily="49" charset="0"/>
              </a:rPr>
              <a:t>ReceivePacketWithLenAsync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Socket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1F377F"/>
                </a:solidFill>
                <a:latin typeface="Cascadia Mono" panose="020B0609020000020004" pitchFamily="49" charset="0"/>
              </a:rPr>
              <a:t>socket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D590E27-9BBF-4EEE-AAB6-A70CF5CC65D9}"/>
              </a:ext>
            </a:extLst>
          </p:cNvPr>
          <p:cNvSpPr/>
          <p:nvPr/>
        </p:nvSpPr>
        <p:spPr>
          <a:xfrm>
            <a:off x="565482" y="1585602"/>
            <a:ext cx="7278574" cy="156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Парсер и конвейер обработки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CC6E34-8996-4074-AB88-95AC447C0D6B}"/>
              </a:ext>
            </a:extLst>
          </p:cNvPr>
          <p:cNvSpPr txBox="1"/>
          <p:nvPr/>
        </p:nvSpPr>
        <p:spPr>
          <a:xfrm>
            <a:off x="500550" y="1130834"/>
            <a:ext cx="56909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Парсер преобразует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payload 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в: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200" b="1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CommandKeyValue</a:t>
            </a:r>
            <a:r>
              <a:rPr lang="en-US" sz="12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{ Command, Key, Value}</a:t>
            </a:r>
          </a:p>
          <a:p>
            <a:b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b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ru-RU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Google Shape;596;p74">
            <a:extLst>
              <a:ext uri="{FF2B5EF4-FFF2-40B4-BE49-F238E27FC236}">
                <a16:creationId xmlns:a16="http://schemas.microsoft.com/office/drawing/2014/main" id="{43F7B8C1-73F5-4197-B4FA-F56095C8BCBD}"/>
              </a:ext>
            </a:extLst>
          </p:cNvPr>
          <p:cNvSpPr txBox="1">
            <a:spLocks/>
          </p:cNvSpPr>
          <p:nvPr/>
        </p:nvSpPr>
        <p:spPr>
          <a:xfrm>
            <a:off x="909565" y="1607887"/>
            <a:ext cx="7568100" cy="1727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 sz="1200" dirty="0">
              <a:solidFill>
                <a:srgbClr val="000000"/>
              </a:solidFill>
              <a:highlight>
                <a:srgbClr val="FFFFFF"/>
              </a:highlight>
              <a:latin typeface="Bahnschrift SemiLight Condensed" panose="020B0502040204020203" pitchFamily="34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ReadOnlySpan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byte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 Command {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init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ru-RU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ReadOnlySpan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byte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 Key {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init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ru-RU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ReadOnlySpan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byte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 Value {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init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ru-RU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74874-630F-4443-A28F-8C6CE129425E}"/>
              </a:ext>
            </a:extLst>
          </p:cNvPr>
          <p:cNvSpPr txBox="1"/>
          <p:nvPr/>
        </p:nvSpPr>
        <p:spPr>
          <a:xfrm>
            <a:off x="500550" y="3357863"/>
            <a:ext cx="297068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Конвейер обработки </a:t>
            </a:r>
            <a:r>
              <a:rPr lang="ru-RU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отвечает за: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lvl="7" indent="-285750"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маршрутизацию команд;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ru-RU" sz="1200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десериализацию</a:t>
            </a:r>
            <a:r>
              <a:rPr lang="ru-RU" sz="12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объектов;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выполнение операций хранилища;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формирование ответа клиенту</a:t>
            </a:r>
            <a:r>
              <a:rPr lang="ru-RU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b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b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ru-RU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924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D590E27-9BBF-4EEE-AAB6-A70CF5CC65D9}"/>
              </a:ext>
            </a:extLst>
          </p:cNvPr>
          <p:cNvSpPr/>
          <p:nvPr/>
        </p:nvSpPr>
        <p:spPr>
          <a:xfrm>
            <a:off x="500550" y="3383637"/>
            <a:ext cx="7291315" cy="629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Ядро хранилища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CC6E34-8996-4074-AB88-95AC447C0D6B}"/>
              </a:ext>
            </a:extLst>
          </p:cNvPr>
          <p:cNvSpPr txBox="1"/>
          <p:nvPr/>
        </p:nvSpPr>
        <p:spPr>
          <a:xfrm>
            <a:off x="500550" y="1130834"/>
            <a:ext cx="5474576" cy="214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Поддерживаемые операции:</a:t>
            </a:r>
            <a:endParaRPr lang="en-US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Get</a:t>
            </a:r>
            <a:endParaRPr lang="ru-RU" b="1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Set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Delete</a:t>
            </a:r>
            <a:endParaRPr lang="ru-RU" b="1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ru-RU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Операции происходят с использованием</a:t>
            </a:r>
            <a:r>
              <a:rPr lang="en-US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 </a:t>
            </a:r>
            <a:r>
              <a:rPr lang="en-US" b="1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ReaderWriterLockSlim</a:t>
            </a:r>
            <a:endParaRPr lang="ru-RU" b="1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20000"/>
              </a:lnSpc>
            </a:pPr>
            <a:endParaRPr lang="ru-RU" b="1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ru-RU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Значения </a:t>
            </a:r>
            <a:r>
              <a:rPr lang="ru-RU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сериализуются</a:t>
            </a:r>
            <a:r>
              <a:rPr lang="ru-RU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через бинарный </a:t>
            </a:r>
            <a:r>
              <a:rPr lang="ru-RU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сериализатор</a:t>
            </a:r>
            <a:r>
              <a:rPr lang="ru-RU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ru-RU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автогенерируемый</a:t>
            </a:r>
            <a:r>
              <a:rPr lang="ru-RU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в </a:t>
            </a:r>
            <a:r>
              <a:rPr lang="ru-RU" b="1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GenerateBinarySerializer</a:t>
            </a:r>
            <a:r>
              <a:rPr lang="ru-RU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9" name="Google Shape;596;p74">
            <a:extLst>
              <a:ext uri="{FF2B5EF4-FFF2-40B4-BE49-F238E27FC236}">
                <a16:creationId xmlns:a16="http://schemas.microsoft.com/office/drawing/2014/main" id="{43F7B8C1-73F5-4197-B4FA-F56095C8BCBD}"/>
              </a:ext>
            </a:extLst>
          </p:cNvPr>
          <p:cNvSpPr txBox="1">
            <a:spLocks/>
          </p:cNvSpPr>
          <p:nvPr/>
        </p:nvSpPr>
        <p:spPr>
          <a:xfrm>
            <a:off x="552035" y="3383639"/>
            <a:ext cx="7568100" cy="68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0" i="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Arial" panose="020B0604020202020204" pitchFamily="34" charset="0"/>
                <a:cs typeface="Arial" panose="020B0604020202020204" pitchFamily="34" charset="0"/>
              </a:rPr>
              <a:t>SerializeToBinary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400" b="0" i="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Arial" panose="020B0604020202020204" pitchFamily="34" charset="0"/>
                <a:cs typeface="Arial" panose="020B0604020202020204" pitchFamily="34" charset="0"/>
              </a:rPr>
              <a:t>DeserializeToBinary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82394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 err="1"/>
              <a:t>Бэнчмарк</a:t>
            </a:r>
            <a:endParaRPr lang="ru-RU" sz="3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4FD7AA-749F-4980-98E6-591ACE938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21" y="1512794"/>
            <a:ext cx="8469821" cy="32021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Нагрузочное тестирование</a:t>
            </a:r>
            <a:br>
              <a:rPr lang="ru-RU" sz="3000" dirty="0"/>
            </a:br>
            <a:endParaRPr lang="ru-RU" sz="3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818D9-824F-4E9F-A25D-852E24AEBB37}"/>
              </a:ext>
            </a:extLst>
          </p:cNvPr>
          <p:cNvSpPr txBox="1"/>
          <p:nvPr/>
        </p:nvSpPr>
        <p:spPr>
          <a:xfrm>
            <a:off x="500550" y="1670257"/>
            <a:ext cx="3207929" cy="30272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b="1" dirty="0">
                <a:latin typeface="Roboto" panose="02000000000000000000" pitchFamily="2" charset="0"/>
                <a:ea typeface="Roboto" panose="02000000000000000000" pitchFamily="2" charset="0"/>
              </a:rPr>
              <a:t>Для нагрузочного тестирования </a:t>
            </a:r>
          </a:p>
          <a:p>
            <a:pPr>
              <a:lnSpc>
                <a:spcPct val="120000"/>
              </a:lnSpc>
            </a:pPr>
            <a:r>
              <a:rPr lang="ru-RU" sz="1200" b="1" dirty="0">
                <a:latin typeface="Roboto" panose="02000000000000000000" pitchFamily="2" charset="0"/>
                <a:ea typeface="Roboto" panose="02000000000000000000" pitchFamily="2" charset="0"/>
              </a:rPr>
              <a:t>использовался: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Roboto" panose="02000000000000000000" pitchFamily="2" charset="0"/>
                <a:ea typeface="Roboto" panose="02000000000000000000" pitchFamily="2" charset="0"/>
              </a:rPr>
              <a:t>N</a:t>
            </a:r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</a:rPr>
              <a:t>B</a:t>
            </a:r>
            <a:r>
              <a:rPr lang="ru-RU" sz="1200" b="1" dirty="0" err="1">
                <a:latin typeface="Roboto" panose="02000000000000000000" pitchFamily="2" charset="0"/>
                <a:ea typeface="Roboto" panose="02000000000000000000" pitchFamily="2" charset="0"/>
              </a:rPr>
              <a:t>omber</a:t>
            </a:r>
            <a:endParaRPr lang="ru-RU" sz="12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20000"/>
              </a:lnSpc>
            </a:pPr>
            <a:endParaRPr lang="ru-RU" sz="12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ru-RU" sz="1200" b="1" dirty="0">
                <a:latin typeface="Roboto" panose="02000000000000000000" pitchFamily="2" charset="0"/>
                <a:ea typeface="Roboto" panose="02000000000000000000" pitchFamily="2" charset="0"/>
              </a:rPr>
              <a:t>Тестирование включало: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12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Roboto" panose="02000000000000000000" pitchFamily="2" charset="0"/>
                <a:ea typeface="Roboto" panose="02000000000000000000" pitchFamily="2" charset="0"/>
              </a:rPr>
              <a:t>параллельные TCP </a:t>
            </a:r>
            <a:r>
              <a:rPr lang="ru-RU" sz="1200" b="1" dirty="0" err="1">
                <a:latin typeface="Roboto" panose="02000000000000000000" pitchFamily="2" charset="0"/>
                <a:ea typeface="Roboto" panose="02000000000000000000" pitchFamily="2" charset="0"/>
              </a:rPr>
              <a:t>connections</a:t>
            </a:r>
            <a:r>
              <a:rPr lang="ru-RU" sz="1200" b="1" dirty="0">
                <a:latin typeface="Roboto" panose="02000000000000000000" pitchFamily="2" charset="0"/>
                <a:ea typeface="Roboto" panose="02000000000000000000" pitchFamily="2" charset="0"/>
              </a:rPr>
              <a:t>;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Roboto" panose="02000000000000000000" pitchFamily="2" charset="0"/>
                <a:ea typeface="Roboto" panose="02000000000000000000" pitchFamily="2" charset="0"/>
              </a:rPr>
              <a:t>массовые SET/GET операции;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Roboto" panose="02000000000000000000" pitchFamily="2" charset="0"/>
                <a:ea typeface="Roboto" panose="02000000000000000000" pitchFamily="2" charset="0"/>
              </a:rPr>
              <a:t>проверку корректности </a:t>
            </a:r>
          </a:p>
          <a:p>
            <a:pPr>
              <a:lnSpc>
                <a:spcPct val="120000"/>
              </a:lnSpc>
            </a:pPr>
            <a:r>
              <a:rPr lang="ru-RU" sz="1200" b="1" dirty="0">
                <a:latin typeface="Roboto" panose="02000000000000000000" pitchFamily="2" charset="0"/>
                <a:ea typeface="Roboto" panose="02000000000000000000" pitchFamily="2" charset="0"/>
              </a:rPr>
              <a:t>        бинарной </a:t>
            </a:r>
            <a:r>
              <a:rPr lang="ru-RU" sz="1200" b="1" dirty="0" err="1">
                <a:latin typeface="Roboto" panose="02000000000000000000" pitchFamily="2" charset="0"/>
                <a:ea typeface="Roboto" panose="02000000000000000000" pitchFamily="2" charset="0"/>
              </a:rPr>
              <a:t>сериализации</a:t>
            </a:r>
            <a:r>
              <a:rPr lang="ru-RU" sz="1200" b="1" dirty="0">
                <a:latin typeface="Roboto" panose="02000000000000000000" pitchFamily="2" charset="0"/>
                <a:ea typeface="Roboto" panose="02000000000000000000" pitchFamily="2" charset="0"/>
              </a:rPr>
              <a:t>;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200" b="1" dirty="0">
                <a:latin typeface="Roboto" panose="02000000000000000000" pitchFamily="2" charset="0"/>
                <a:ea typeface="Roboto" panose="02000000000000000000" pitchFamily="2" charset="0"/>
              </a:rPr>
              <a:t>проверку стабильности </a:t>
            </a:r>
            <a:r>
              <a:rPr lang="ru-RU" sz="1200" b="1" dirty="0" err="1">
                <a:latin typeface="Roboto" panose="02000000000000000000" pitchFamily="2" charset="0"/>
                <a:ea typeface="Roboto" panose="02000000000000000000" pitchFamily="2" charset="0"/>
              </a:rPr>
              <a:t>transport</a:t>
            </a:r>
            <a:r>
              <a:rPr lang="ru-RU" sz="12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200" b="1" dirty="0" err="1">
                <a:latin typeface="Roboto" panose="02000000000000000000" pitchFamily="2" charset="0"/>
                <a:ea typeface="Roboto" panose="02000000000000000000" pitchFamily="2" charset="0"/>
              </a:rPr>
              <a:t>layer</a:t>
            </a:r>
            <a:r>
              <a:rPr lang="ru-RU" sz="1200" b="1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b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b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ru-RU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FDACE9-EE2A-4897-BDBB-838900573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250" y="1670257"/>
            <a:ext cx="4663362" cy="281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2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7719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/>
              <a:t>Решённые проблемы</a:t>
            </a:r>
            <a:endParaRPr lang="ru-RU"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4199113071"/>
              </p:ext>
            </p:extLst>
          </p:nvPr>
        </p:nvGraphicFramePr>
        <p:xfrm>
          <a:off x="952500" y="1718400"/>
          <a:ext cx="7239000" cy="1775848"/>
        </p:xfrm>
        <a:graphic>
          <a:graphicData uri="http://schemas.openxmlformats.org/drawingml/2006/table">
            <a:tbl>
              <a:tblPr>
                <a:noFill/>
                <a:tableStyleId>{7A203E46-6826-43DD-97CC-55A9E8C92549}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457135-9F08-4044-B38C-26A9AF42A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934506"/>
            <a:ext cx="3887489" cy="20272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2B893D-70CE-493C-A12A-A294215999D9}"/>
              </a:ext>
            </a:extLst>
          </p:cNvPr>
          <p:cNvSpPr txBox="1"/>
          <p:nvPr/>
        </p:nvSpPr>
        <p:spPr>
          <a:xfrm>
            <a:off x="500550" y="1201976"/>
            <a:ext cx="3477234" cy="1032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Довольно долго разбирался с проблемой </a:t>
            </a:r>
          </a:p>
          <a:p>
            <a:pPr>
              <a:lnSpc>
                <a:spcPct val="120000"/>
              </a:lnSpc>
            </a:pPr>
            <a:r>
              <a:rPr lang="ru-RU" sz="12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10-12 провалов на нагрузочном тестировании</a:t>
            </a:r>
            <a:b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br>
              <a:rPr lang="en-US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ru-RU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501252" y="1274361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solidFill>
                  <a:schemeClr val="lt1"/>
                </a:solidFill>
              </a:rPr>
              <a:t>Если что-то может пойти не так, оно обязательно пойдёт не так</a:t>
            </a: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16;p77">
            <a:extLst>
              <a:ext uri="{FF2B5EF4-FFF2-40B4-BE49-F238E27FC236}">
                <a16:creationId xmlns:a16="http://schemas.microsoft.com/office/drawing/2014/main" id="{44B17751-D192-4316-8FC1-F6E7278678F5}"/>
              </a:ext>
            </a:extLst>
          </p:cNvPr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Эдвард</a:t>
            </a:r>
            <a:r>
              <a:rPr lang="en-US" sz="2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2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Мёрфи</a:t>
            </a:r>
            <a:endParaRPr lang="en-US" sz="10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399</Words>
  <Application>Microsoft Office PowerPoint</Application>
  <PresentationFormat>Экран (16:9)</PresentationFormat>
  <Paragraphs>96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13</vt:i4>
      </vt:variant>
    </vt:vector>
  </HeadingPairs>
  <TitlesOfParts>
    <vt:vector size="22" baseType="lpstr">
      <vt:lpstr>Arial</vt:lpstr>
      <vt:lpstr>Bahnschrift SemiLight Condensed</vt:lpstr>
      <vt:lpstr>Roboto</vt:lpstr>
      <vt:lpstr>Roboto Medium</vt:lpstr>
      <vt:lpstr>Cascadia Mono</vt:lpstr>
      <vt:lpstr>Courier New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Разработка высокопроизводительного  In-Memory Key-Value кэша </vt:lpstr>
      <vt:lpstr>План защиты</vt:lpstr>
      <vt:lpstr>Презентация PowerPoint</vt:lpstr>
      <vt:lpstr>Сетевой уровень </vt:lpstr>
      <vt:lpstr>Парсер и конвейер обработки </vt:lpstr>
      <vt:lpstr>Ядро хранилища </vt:lpstr>
      <vt:lpstr>Бэнчмарк</vt:lpstr>
      <vt:lpstr>Нагрузочное тестирование </vt:lpstr>
      <vt:lpstr>Решённые проблемы </vt:lpstr>
      <vt:lpstr>Презентация PowerPoint</vt:lpstr>
      <vt:lpstr>Если что-то может пойти не так, оно обязательно пойдёт не так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коновалов Вадим</cp:lastModifiedBy>
  <cp:revision>23</cp:revision>
  <dcterms:modified xsi:type="dcterms:W3CDTF">2026-05-25T23:50:50Z</dcterms:modified>
</cp:coreProperties>
</file>